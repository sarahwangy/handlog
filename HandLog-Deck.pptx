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hand-log.vercel.app" TargetMode="External"/><Relationship Id="rId2" Type="http://schemas.openxmlformats.org/officeDocument/2006/relationships/hyperlink" Target="https://github.com/sarahwangy/HandLo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266700" cy="266700"/>
          </a:xfrm>
          <a:prstGeom prst="ellipse">
            <a:avLst/>
          </a:prstGeom>
          <a:solidFill>
            <a:srgbClr val="B7C7A8"/>
          </a:solidFill>
          <a:ln/>
        </p:spPr>
      </p:sp>
      <p:sp>
        <p:nvSpPr>
          <p:cNvPr id="3" name="Shape 1"/>
          <p:cNvSpPr/>
          <p:nvPr/>
        </p:nvSpPr>
        <p:spPr>
          <a:xfrm>
            <a:off x="723900" y="381000"/>
            <a:ext cx="266700" cy="266700"/>
          </a:xfrm>
          <a:prstGeom prst="ellipse">
            <a:avLst/>
          </a:prstGeom>
          <a:solidFill>
            <a:srgbClr val="E1A4C2"/>
          </a:solidFill>
          <a:ln/>
        </p:spPr>
      </p:sp>
      <p:sp>
        <p:nvSpPr>
          <p:cNvPr id="4" name="Shape 2"/>
          <p:cNvSpPr/>
          <p:nvPr/>
        </p:nvSpPr>
        <p:spPr>
          <a:xfrm>
            <a:off x="1066800" y="381000"/>
            <a:ext cx="266700" cy="266700"/>
          </a:xfrm>
          <a:prstGeom prst="ellipse">
            <a:avLst/>
          </a:prstGeom>
          <a:solidFill>
            <a:srgbClr val="D6DD63"/>
          </a:solidFill>
          <a:ln/>
        </p:spPr>
      </p:sp>
      <p:sp>
        <p:nvSpPr>
          <p:cNvPr id="5" name="Shape 3"/>
          <p:cNvSpPr/>
          <p:nvPr/>
        </p:nvSpPr>
        <p:spPr>
          <a:xfrm>
            <a:off x="1409700" y="381000"/>
            <a:ext cx="266700" cy="266700"/>
          </a:xfrm>
          <a:prstGeom prst="ellipse">
            <a:avLst/>
          </a:prstGeom>
          <a:solidFill>
            <a:srgbClr val="E8C9B6"/>
          </a:solidFill>
          <a:ln/>
        </p:spPr>
      </p:sp>
      <p:sp>
        <p:nvSpPr>
          <p:cNvPr id="6" name="Shape 4"/>
          <p:cNvSpPr/>
          <p:nvPr/>
        </p:nvSpPr>
        <p:spPr>
          <a:xfrm>
            <a:off x="1752600" y="381000"/>
            <a:ext cx="266700" cy="266700"/>
          </a:xfrm>
          <a:prstGeom prst="ellipse">
            <a:avLst/>
          </a:prstGeom>
          <a:solidFill>
            <a:srgbClr val="C9BEDC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" y="142875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2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</a:t>
            </a:r>
            <a:pPr algn="l" indent="0" marL="0">
              <a:buNone/>
            </a:pPr>
            <a:r>
              <a:rPr lang="en-US" sz="8625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Log</a:t>
            </a:r>
            <a:pPr algn="l" indent="0" marL="0">
              <a:buNone/>
            </a:pPr>
            <a:r>
              <a:rPr lang="en-US" sz="5625" dirty="0">
                <a:solidFill>
                  <a:srgbClr val="000000"/>
                </a:solidFill>
              </a:rPr>
              <a:t>  ✍️</a:t>
            </a:r>
            <a:endParaRPr lang="en-US" sz="8625" dirty="0"/>
          </a:p>
        </p:txBody>
      </p:sp>
      <p:sp>
        <p:nvSpPr>
          <p:cNvPr id="8" name="Shape 6"/>
          <p:cNvSpPr/>
          <p:nvPr/>
        </p:nvSpPr>
        <p:spPr>
          <a:xfrm>
            <a:off x="381000" y="3095625"/>
            <a:ext cx="4381500" cy="904875"/>
          </a:xfrm>
          <a:prstGeom prst="roundRect">
            <a:avLst>
              <a:gd name="adj" fmla="val 14147"/>
            </a:avLst>
          </a:prstGeom>
          <a:solidFill>
            <a:srgbClr val="FAF8F1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3238500"/>
            <a:ext cx="400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An AI journal that thinks with you — capture your day by voice or text, get weekly reviews written back to you.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710940" y="4262438"/>
            <a:ext cx="1257300" cy="310896"/>
          </a:xfrm>
          <a:prstGeom prst="roundRect">
            <a:avLst>
              <a:gd name="adj" fmla="val 50000"/>
            </a:avLst>
          </a:prstGeom>
          <a:solidFill>
            <a:srgbClr val="B7C7A8"/>
          </a:solidFill>
          <a:ln/>
        </p:spPr>
      </p:sp>
      <p:sp>
        <p:nvSpPr>
          <p:cNvPr id="11" name="Text 9"/>
          <p:cNvSpPr/>
          <p:nvPr/>
        </p:nvSpPr>
        <p:spPr>
          <a:xfrm>
            <a:off x="3710940" y="4262438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VOICE INPUT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44440" y="4262438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D6DD63"/>
          </a:solidFill>
          <a:ln/>
        </p:spPr>
      </p:sp>
      <p:sp>
        <p:nvSpPr>
          <p:cNvPr id="13" name="Text 11"/>
          <p:cNvSpPr/>
          <p:nvPr/>
        </p:nvSpPr>
        <p:spPr>
          <a:xfrm>
            <a:off x="5044440" y="4262438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AI REVIEW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40780" y="4262438"/>
            <a:ext cx="1257300" cy="310896"/>
          </a:xfrm>
          <a:prstGeom prst="roundRect">
            <a:avLst>
              <a:gd name="adj" fmla="val 50000"/>
            </a:avLst>
          </a:prstGeom>
          <a:solidFill>
            <a:srgbClr val="E8C9B6"/>
          </a:solidFill>
          <a:ln/>
        </p:spPr>
      </p:sp>
      <p:sp>
        <p:nvSpPr>
          <p:cNvPr id="15" name="Text 13"/>
          <p:cNvSpPr/>
          <p:nvPr/>
        </p:nvSpPr>
        <p:spPr>
          <a:xfrm>
            <a:off x="6240780" y="4262438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NOTION SYNC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74280" y="426243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1A4C2"/>
          </a:solidFill>
          <a:ln/>
        </p:spPr>
      </p:sp>
      <p:sp>
        <p:nvSpPr>
          <p:cNvPr id="17" name="Text 15"/>
          <p:cNvSpPr/>
          <p:nvPr/>
        </p:nvSpPr>
        <p:spPr>
          <a:xfrm>
            <a:off x="7574280" y="426243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MOOD SCORE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1000" y="4762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✍️ HandLog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67500" y="4762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handlog.app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38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WHO IS THIS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4375" y="23812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523875"/>
            <a:ext cx="809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2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People who want to </a:t>
            </a:r>
            <a:pPr indent="0" marL="0">
              <a:buNone/>
            </a:pPr>
            <a:r>
              <a:rPr lang="en-US" sz="2325" b="1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remember their lives.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381000" y="1428750"/>
            <a:ext cx="2714625" cy="3048000"/>
          </a:xfrm>
          <a:prstGeom prst="roundRect">
            <a:avLst>
              <a:gd name="adj" fmla="val 7411"/>
            </a:avLst>
          </a:prstGeom>
          <a:solidFill>
            <a:srgbClr val="B7C7A8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619250"/>
            <a:ext cx="95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71500" y="2095500"/>
            <a:ext cx="2333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Reflective One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571500" y="2571750"/>
            <a:ext cx="233362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Journals occasionally but never goes back to read it. Wants to understand their own patterns — emotions, energy, relationships — without the effort of a therapist.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" y="3952875"/>
            <a:ext cx="2333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"I write a lot but I never know what it all means."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86125" y="1428750"/>
            <a:ext cx="2714625" cy="3048000"/>
          </a:xfrm>
          <a:prstGeom prst="roundRect">
            <a:avLst>
              <a:gd name="adj" fmla="val 7411"/>
            </a:avLst>
          </a:prstGeom>
          <a:solidFill>
            <a:srgbClr val="E8C9B6"/>
          </a:solidFill>
          <a:ln/>
        </p:spPr>
      </p:sp>
      <p:sp>
        <p:nvSpPr>
          <p:cNvPr id="11" name="Text 9"/>
          <p:cNvSpPr/>
          <p:nvPr/>
        </p:nvSpPr>
        <p:spPr>
          <a:xfrm>
            <a:off x="3476625" y="1619250"/>
            <a:ext cx="95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476625" y="2095500"/>
            <a:ext cx="2333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Busy Person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3476625" y="2571750"/>
            <a:ext cx="233362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Life moves fast. Meetings, family, decisions. Wants to capture the day in 2 minutes — voice note on the way home — and have something meaningful to look back 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6625" y="3952875"/>
            <a:ext cx="2333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"I forget what happened last week, let alone last year."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1250" y="1428750"/>
            <a:ext cx="2714625" cy="3048000"/>
          </a:xfrm>
          <a:prstGeom prst="roundRect">
            <a:avLst>
              <a:gd name="adj" fmla="val 7411"/>
            </a:avLst>
          </a:prstGeom>
          <a:solidFill>
            <a:srgbClr val="C9BEDC"/>
          </a:solidFill>
          <a:ln/>
        </p:spPr>
      </p:sp>
      <p:sp>
        <p:nvSpPr>
          <p:cNvPr id="16" name="Text 14"/>
          <p:cNvSpPr/>
          <p:nvPr/>
        </p:nvSpPr>
        <p:spPr>
          <a:xfrm>
            <a:off x="6381750" y="1619250"/>
            <a:ext cx="95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381750" y="2095500"/>
            <a:ext cx="2333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Self-Builder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6381750" y="2571750"/>
            <a:ext cx="233362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Tracks habits, reads self-improvement books, wants data on themselves. Mood scores, people patterns, energy trends — they want the dashboard of their own life.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1750" y="3952875"/>
            <a:ext cx="2333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"I want to see myself the way data sees me."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1000" y="4762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✍️ HandLog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67500" y="4762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handlog.app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38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4375" y="23812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238250"/>
            <a:ext cx="41910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25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Most journals</a:t>
            </a:r>
            <a:endParaRPr lang="en-US" sz="2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250" b="1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never get read</a:t>
            </a:r>
            <a:endParaRPr lang="en-US" sz="2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25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again.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333375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 write, we forget. There's no structure, no reflection, no way to see the patterns in your own life — until now.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667250" y="1428750"/>
            <a:ext cx="4095750" cy="1000125"/>
          </a:xfrm>
          <a:prstGeom prst="roundRect">
            <a:avLst>
              <a:gd name="adj" fmla="val 16457"/>
            </a:avLst>
          </a:prstGeom>
          <a:solidFill>
            <a:srgbClr val="E8C9B6"/>
          </a:solidFill>
          <a:ln/>
        </p:spPr>
      </p:sp>
      <p:sp>
        <p:nvSpPr>
          <p:cNvPr id="7" name="Text 5"/>
          <p:cNvSpPr/>
          <p:nvPr/>
        </p:nvSpPr>
        <p:spPr>
          <a:xfrm>
            <a:off x="4857750" y="1619250"/>
            <a:ext cx="571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524500" y="1619250"/>
            <a:ext cx="3095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 structure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5524500" y="1905000"/>
            <a:ext cx="3095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Free-form notes pile up with no summary, no themes, no meaningful takeaways.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7250" y="2571750"/>
            <a:ext cx="4095750" cy="1000125"/>
          </a:xfrm>
          <a:prstGeom prst="roundRect">
            <a:avLst>
              <a:gd name="adj" fmla="val 16457"/>
            </a:avLst>
          </a:prstGeom>
          <a:solidFill>
            <a:srgbClr val="D6DD63"/>
          </a:solidFill>
          <a:ln/>
        </p:spPr>
      </p:sp>
      <p:sp>
        <p:nvSpPr>
          <p:cNvPr id="11" name="Text 9"/>
          <p:cNvSpPr/>
          <p:nvPr/>
        </p:nvSpPr>
        <p:spPr>
          <a:xfrm>
            <a:off x="4857750" y="2762250"/>
            <a:ext cx="571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524500" y="2762250"/>
            <a:ext cx="3095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Too much friction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5524500" y="3048000"/>
            <a:ext cx="3095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Opening an app, typing a full entry — it feels like homework. Most people stop within a week.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7250" y="3714750"/>
            <a:ext cx="4095750" cy="1000125"/>
          </a:xfrm>
          <a:prstGeom prst="roundRect">
            <a:avLst>
              <a:gd name="adj" fmla="val 16457"/>
            </a:avLst>
          </a:prstGeom>
          <a:solidFill>
            <a:srgbClr val="C9BEDC"/>
          </a:solidFill>
          <a:ln/>
        </p:spPr>
      </p:sp>
      <p:sp>
        <p:nvSpPr>
          <p:cNvPr id="15" name="Text 13"/>
          <p:cNvSpPr/>
          <p:nvPr/>
        </p:nvSpPr>
        <p:spPr>
          <a:xfrm>
            <a:off x="4857750" y="3905250"/>
            <a:ext cx="571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524500" y="3905250"/>
            <a:ext cx="3095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 reflection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5524500" y="4191000"/>
            <a:ext cx="3095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Without review, journaling is just venting. The growth comes from looking back — but nobody does.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1000" y="4762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✍️ HandLog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67500" y="4762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handlog.app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38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4375" y="23812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571500"/>
            <a:ext cx="571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7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Three steps.</a:t>
            </a:r>
            <a:endParaRPr lang="en-US" sz="2475" dirty="0"/>
          </a:p>
          <a:p>
            <a:pPr indent="0" marL="0">
              <a:buNone/>
            </a:pPr>
            <a:r>
              <a:rPr lang="en-US" sz="2475" b="1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Effortless habit.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381000" y="1905000"/>
            <a:ext cx="2714625" cy="2381250"/>
          </a:xfrm>
          <a:prstGeom prst="roundRect">
            <a:avLst>
              <a:gd name="adj" fmla="val 7680"/>
            </a:avLst>
          </a:prstGeom>
          <a:solidFill>
            <a:srgbClr val="B7C7A8"/>
          </a:solidFill>
          <a:ln/>
        </p:spPr>
      </p:sp>
      <p:sp>
        <p:nvSpPr>
          <p:cNvPr id="6" name="Text 4"/>
          <p:cNvSpPr/>
          <p:nvPr/>
        </p:nvSpPr>
        <p:spPr>
          <a:xfrm>
            <a:off x="595313" y="209550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25" b="1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625" dirty="0"/>
          </a:p>
        </p:txBody>
      </p:sp>
      <p:sp>
        <p:nvSpPr>
          <p:cNvPr id="7" name="Text 5"/>
          <p:cNvSpPr/>
          <p:nvPr/>
        </p:nvSpPr>
        <p:spPr>
          <a:xfrm>
            <a:off x="595313" y="2714625"/>
            <a:ext cx="2286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Capture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5313" y="3095625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Speak or type freely — what happened, who you saw, how you felt. No format required. Voice transcription included.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86125" y="1905000"/>
            <a:ext cx="2714625" cy="2381250"/>
          </a:xfrm>
          <a:prstGeom prst="roundRect">
            <a:avLst>
              <a:gd name="adj" fmla="val 7680"/>
            </a:avLst>
          </a:prstGeom>
          <a:solidFill>
            <a:srgbClr val="D6DD63"/>
          </a:solidFill>
          <a:ln/>
        </p:spPr>
      </p:sp>
      <p:sp>
        <p:nvSpPr>
          <p:cNvPr id="10" name="Text 8"/>
          <p:cNvSpPr/>
          <p:nvPr/>
        </p:nvSpPr>
        <p:spPr>
          <a:xfrm>
            <a:off x="3500438" y="209550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25" b="1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625" dirty="0"/>
          </a:p>
        </p:txBody>
      </p:sp>
      <p:sp>
        <p:nvSpPr>
          <p:cNvPr id="11" name="Text 9"/>
          <p:cNvSpPr/>
          <p:nvPr/>
        </p:nvSpPr>
        <p:spPr>
          <a:xfrm>
            <a:off x="3500438" y="2714625"/>
            <a:ext cx="2286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 Reviews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0438" y="3095625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 week, AI reads your entries and writes a structured review — key events, mood score, themes, and personal reflections.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1250" y="1905000"/>
            <a:ext cx="2714625" cy="2381250"/>
          </a:xfrm>
          <a:prstGeom prst="roundRect">
            <a:avLst>
              <a:gd name="adj" fmla="val 7680"/>
            </a:avLst>
          </a:prstGeom>
          <a:solidFill>
            <a:srgbClr val="E1A4C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5563" y="209550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25" b="1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625" dirty="0"/>
          </a:p>
        </p:txBody>
      </p:sp>
      <p:sp>
        <p:nvSpPr>
          <p:cNvPr id="15" name="Text 13"/>
          <p:cNvSpPr/>
          <p:nvPr/>
        </p:nvSpPr>
        <p:spPr>
          <a:xfrm>
            <a:off x="6405563" y="2714625"/>
            <a:ext cx="2286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Auto-Saved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5563" y="3095625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Everything syncs to your Notion workspace automatically. Your memories, organised exactly the way you like them.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1000" y="4762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✍️ HandLog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67500" y="4762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handlog.app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38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DASHBOARD &amp;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4375" y="23812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571500"/>
            <a:ext cx="571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7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Your life, </a:t>
            </a:r>
            <a:pPr indent="0" marL="0">
              <a:buNone/>
            </a:pPr>
            <a:r>
              <a:rPr lang="en-US" sz="2475" b="1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visualised.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381000" y="1381125"/>
            <a:ext cx="1005840" cy="190500"/>
          </a:xfrm>
          <a:prstGeom prst="rect">
            <a:avLst/>
          </a:prstGeom>
          <a:solidFill>
            <a:srgbClr val="E8C9B6"/>
          </a:solidFill>
          <a:ln/>
        </p:spPr>
      </p:sp>
      <p:sp>
        <p:nvSpPr>
          <p:cNvPr id="6" name="Shape 4"/>
          <p:cNvSpPr/>
          <p:nvPr/>
        </p:nvSpPr>
        <p:spPr>
          <a:xfrm>
            <a:off x="1386840" y="1381125"/>
            <a:ext cx="1508760" cy="190500"/>
          </a:xfrm>
          <a:prstGeom prst="rect">
            <a:avLst/>
          </a:prstGeom>
          <a:solidFill>
            <a:srgbClr val="D6DD63"/>
          </a:solidFill>
          <a:ln/>
        </p:spPr>
      </p:sp>
      <p:sp>
        <p:nvSpPr>
          <p:cNvPr id="7" name="Shape 5"/>
          <p:cNvSpPr/>
          <p:nvPr/>
        </p:nvSpPr>
        <p:spPr>
          <a:xfrm>
            <a:off x="2895600" y="1381125"/>
            <a:ext cx="670560" cy="190500"/>
          </a:xfrm>
          <a:prstGeom prst="rect">
            <a:avLst/>
          </a:prstGeom>
          <a:solidFill>
            <a:srgbClr val="E8C9B6"/>
          </a:solidFill>
          <a:ln/>
        </p:spPr>
      </p:sp>
      <p:sp>
        <p:nvSpPr>
          <p:cNvPr id="8" name="Shape 6"/>
          <p:cNvSpPr/>
          <p:nvPr/>
        </p:nvSpPr>
        <p:spPr>
          <a:xfrm>
            <a:off x="3566160" y="1381125"/>
            <a:ext cx="1844040" cy="190500"/>
          </a:xfrm>
          <a:prstGeom prst="rect">
            <a:avLst/>
          </a:prstGeom>
          <a:solidFill>
            <a:srgbClr val="B7C7A8"/>
          </a:solidFill>
          <a:ln/>
        </p:spPr>
      </p:sp>
      <p:sp>
        <p:nvSpPr>
          <p:cNvPr id="9" name="Shape 7"/>
          <p:cNvSpPr/>
          <p:nvPr/>
        </p:nvSpPr>
        <p:spPr>
          <a:xfrm>
            <a:off x="5410200" y="1381125"/>
            <a:ext cx="1257300" cy="190500"/>
          </a:xfrm>
          <a:prstGeom prst="rect">
            <a:avLst/>
          </a:prstGeom>
          <a:solidFill>
            <a:srgbClr val="D6DD63"/>
          </a:solidFill>
          <a:ln/>
        </p:spPr>
      </p:sp>
      <p:sp>
        <p:nvSpPr>
          <p:cNvPr id="10" name="Shape 8"/>
          <p:cNvSpPr/>
          <p:nvPr/>
        </p:nvSpPr>
        <p:spPr>
          <a:xfrm>
            <a:off x="6667500" y="1381125"/>
            <a:ext cx="838200" cy="190500"/>
          </a:xfrm>
          <a:prstGeom prst="rect">
            <a:avLst/>
          </a:prstGeom>
          <a:solidFill>
            <a:srgbClr val="E1A4C2"/>
          </a:solidFill>
          <a:ln/>
        </p:spPr>
      </p:sp>
      <p:sp>
        <p:nvSpPr>
          <p:cNvPr id="11" name="Shape 9"/>
          <p:cNvSpPr/>
          <p:nvPr/>
        </p:nvSpPr>
        <p:spPr>
          <a:xfrm>
            <a:off x="7505700" y="1381125"/>
            <a:ext cx="1257300" cy="190500"/>
          </a:xfrm>
          <a:prstGeom prst="rect">
            <a:avLst/>
          </a:prstGeom>
          <a:solidFill>
            <a:srgbClr val="B7C7A8"/>
          </a:solidFill>
          <a:ln/>
        </p:spPr>
      </p:sp>
      <p:sp>
        <p:nvSpPr>
          <p:cNvPr id="12" name="Shape 10"/>
          <p:cNvSpPr/>
          <p:nvPr/>
        </p:nvSpPr>
        <p:spPr>
          <a:xfrm>
            <a:off x="381000" y="1762125"/>
            <a:ext cx="2000250" cy="2524125"/>
          </a:xfrm>
          <a:prstGeom prst="roundRect">
            <a:avLst>
              <a:gd name="adj" fmla="val 9143"/>
            </a:avLst>
          </a:prstGeom>
          <a:solidFill>
            <a:srgbClr val="B7C7A8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" y="1952625"/>
            <a:ext cx="1619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75" b="1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8.2</a:t>
            </a:r>
            <a:endParaRPr lang="en-US" sz="3375" dirty="0"/>
          </a:p>
        </p:txBody>
      </p:sp>
      <p:sp>
        <p:nvSpPr>
          <p:cNvPr id="14" name="Text 12"/>
          <p:cNvSpPr/>
          <p:nvPr/>
        </p:nvSpPr>
        <p:spPr>
          <a:xfrm>
            <a:off x="571500" y="266700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AVG MOOD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1500" y="2952750"/>
            <a:ext cx="1619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Daily, weekly &amp; monthly mood tracked from 1–10.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71750" y="1762125"/>
            <a:ext cx="2000250" cy="2524125"/>
          </a:xfrm>
          <a:prstGeom prst="roundRect">
            <a:avLst>
              <a:gd name="adj" fmla="val 9143"/>
            </a:avLst>
          </a:prstGeom>
          <a:solidFill>
            <a:srgbClr val="D6DD63"/>
          </a:solidFill>
          <a:ln/>
        </p:spPr>
      </p:sp>
      <p:sp>
        <p:nvSpPr>
          <p:cNvPr id="17" name="Text 15"/>
          <p:cNvSpPr/>
          <p:nvPr/>
        </p:nvSpPr>
        <p:spPr>
          <a:xfrm>
            <a:off x="2762250" y="1952625"/>
            <a:ext cx="1619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75" b="1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47</a:t>
            </a:r>
            <a:endParaRPr lang="en-US" sz="3375" dirty="0"/>
          </a:p>
        </p:txBody>
      </p:sp>
      <p:sp>
        <p:nvSpPr>
          <p:cNvPr id="18" name="Text 16"/>
          <p:cNvSpPr/>
          <p:nvPr/>
        </p:nvSpPr>
        <p:spPr>
          <a:xfrm>
            <a:off x="2762250" y="266700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ENTRIES THIS MONTH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62250" y="2952750"/>
            <a:ext cx="1619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Voice + text. Short is fine. Consistency is everything.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62500" y="1762125"/>
            <a:ext cx="2000250" cy="2524125"/>
          </a:xfrm>
          <a:prstGeom prst="roundRect">
            <a:avLst>
              <a:gd name="adj" fmla="val 9143"/>
            </a:avLst>
          </a:prstGeom>
          <a:solidFill>
            <a:srgbClr val="E8C9B6"/>
          </a:solidFill>
          <a:ln/>
        </p:spPr>
      </p:sp>
      <p:sp>
        <p:nvSpPr>
          <p:cNvPr id="21" name="Text 19"/>
          <p:cNvSpPr/>
          <p:nvPr/>
        </p:nvSpPr>
        <p:spPr>
          <a:xfrm>
            <a:off x="4953000" y="1952625"/>
            <a:ext cx="1619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75" b="1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12</a:t>
            </a:r>
            <a:endParaRPr lang="en-US" sz="3375" dirty="0"/>
          </a:p>
        </p:txBody>
      </p:sp>
      <p:sp>
        <p:nvSpPr>
          <p:cNvPr id="22" name="Text 20"/>
          <p:cNvSpPr/>
          <p:nvPr/>
        </p:nvSpPr>
        <p:spPr>
          <a:xfrm>
            <a:off x="4953000" y="266700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PEOPLE MENTIONED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3000" y="2952750"/>
            <a:ext cx="1619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Timeline tracks every person in your life story.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53250" y="1762125"/>
            <a:ext cx="2000250" cy="2524125"/>
          </a:xfrm>
          <a:prstGeom prst="roundRect">
            <a:avLst>
              <a:gd name="adj" fmla="val 9143"/>
            </a:avLst>
          </a:prstGeom>
          <a:solidFill>
            <a:srgbClr val="C9BEDC"/>
          </a:solidFill>
          <a:ln/>
        </p:spPr>
      </p:sp>
      <p:sp>
        <p:nvSpPr>
          <p:cNvPr id="25" name="Text 23"/>
          <p:cNvSpPr/>
          <p:nvPr/>
        </p:nvSpPr>
        <p:spPr>
          <a:xfrm>
            <a:off x="7143750" y="1952625"/>
            <a:ext cx="1619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75" b="1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3×</a:t>
            </a:r>
            <a:endParaRPr lang="en-US" sz="3375" dirty="0"/>
          </a:p>
        </p:txBody>
      </p:sp>
      <p:sp>
        <p:nvSpPr>
          <p:cNvPr id="26" name="Text 24"/>
          <p:cNvSpPr/>
          <p:nvPr/>
        </p:nvSpPr>
        <p:spPr>
          <a:xfrm>
            <a:off x="7143750" y="266700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REVIEW TYPES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43750" y="2952750"/>
            <a:ext cx="1619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Daily · Weekly · Monthly — all AI-generated, all in Notion.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1000" y="4762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✍️ HandLog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67500" y="4762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handlog.app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38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4375" y="23812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476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7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Everything you need,</a:t>
            </a:r>
            <a:endParaRPr lang="en-US" sz="2475" dirty="0"/>
          </a:p>
          <a:p>
            <a:pPr indent="0" marL="0">
              <a:buNone/>
            </a:pPr>
            <a:r>
              <a:rPr lang="en-US" sz="2475" b="1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nothing you don't.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381000" y="1714500"/>
            <a:ext cx="2714625" cy="1285875"/>
          </a:xfrm>
          <a:prstGeom prst="roundRect">
            <a:avLst>
              <a:gd name="adj" fmla="val 14222"/>
            </a:avLst>
          </a:prstGeom>
          <a:solidFill>
            <a:srgbClr val="FAF8F1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881187"/>
            <a:ext cx="23336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Voice Capture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71500" y="2214563"/>
            <a:ext cx="2333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Record a voice note, and Whisper AI transcribes it instantly. Log your day in under 60 seconds.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38500" y="1714500"/>
            <a:ext cx="2714625" cy="1285875"/>
          </a:xfrm>
          <a:prstGeom prst="roundRect">
            <a:avLst>
              <a:gd name="adj" fmla="val 14222"/>
            </a:avLst>
          </a:prstGeom>
          <a:solidFill>
            <a:srgbClr val="B7C7A8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881187"/>
            <a:ext cx="23336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Weekly Review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429000" y="2214563"/>
            <a:ext cx="2333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AI reads your week and generates a full narrative review — with highlights, patterns, and a mood score.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6000" y="1714500"/>
            <a:ext cx="2714625" cy="1285875"/>
          </a:xfrm>
          <a:prstGeom prst="roundRect">
            <a:avLst>
              <a:gd name="adj" fmla="val 14222"/>
            </a:avLst>
          </a:prstGeom>
          <a:solidFill>
            <a:srgbClr val="D6DD63"/>
          </a:solidFill>
          <a:ln/>
        </p:spPr>
      </p:sp>
      <p:sp>
        <p:nvSpPr>
          <p:cNvPr id="12" name="Text 10"/>
          <p:cNvSpPr/>
          <p:nvPr/>
        </p:nvSpPr>
        <p:spPr>
          <a:xfrm>
            <a:off x="6286500" y="1881187"/>
            <a:ext cx="23336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Deep Chat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286500" y="2214563"/>
            <a:ext cx="2333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Ask your AI about your own life. "Who did I see most this month?" "What made me stressed in November?"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1000" y="3143250"/>
            <a:ext cx="2714625" cy="1285875"/>
          </a:xfrm>
          <a:prstGeom prst="roundRect">
            <a:avLst>
              <a:gd name="adj" fmla="val 14222"/>
            </a:avLst>
          </a:prstGeom>
          <a:solidFill>
            <a:srgbClr val="E8C9B6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" y="3309938"/>
            <a:ext cx="23336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Mood Dashboard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71500" y="3643313"/>
            <a:ext cx="2333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Visual mood tracking across weeks and months. See your emotional patterns at a glance.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38500" y="3143250"/>
            <a:ext cx="2714625" cy="1285875"/>
          </a:xfrm>
          <a:prstGeom prst="roundRect">
            <a:avLst>
              <a:gd name="adj" fmla="val 14222"/>
            </a:avLst>
          </a:prstGeom>
          <a:solidFill>
            <a:srgbClr val="C9BEDC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3309938"/>
            <a:ext cx="23336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Timeline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3429000" y="3643313"/>
            <a:ext cx="2333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Browse your life story chronologically — every entry, every review, every person you mentioned.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96000" y="3143250"/>
            <a:ext cx="2714625" cy="1285875"/>
          </a:xfrm>
          <a:prstGeom prst="roundRect">
            <a:avLst>
              <a:gd name="adj" fmla="val 14222"/>
            </a:avLst>
          </a:prstGeom>
          <a:solidFill>
            <a:srgbClr val="E1A4C2"/>
          </a:solidFill>
          <a:ln/>
        </p:spPr>
      </p:sp>
      <p:sp>
        <p:nvSpPr>
          <p:cNvPr id="21" name="Text 19"/>
          <p:cNvSpPr/>
          <p:nvPr/>
        </p:nvSpPr>
        <p:spPr>
          <a:xfrm>
            <a:off x="6286500" y="3309938"/>
            <a:ext cx="23336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Notion Sync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286500" y="3643313"/>
            <a:ext cx="2333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All your notes and reviews auto-save to Notion. Your data, in your workspace, always.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1000" y="4762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✍️ HandLog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67500" y="4762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handlog.app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38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DEEP CHAT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4375" y="23812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238250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7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Ask your AI</a:t>
            </a:r>
            <a:endParaRPr lang="en-US" sz="2475" dirty="0"/>
          </a:p>
          <a:p>
            <a:pPr indent="0" marL="0">
              <a:buNone/>
            </a:pPr>
            <a:r>
              <a:rPr lang="en-US" sz="2475" b="1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about your life.</a:t>
            </a:r>
            <a:endParaRPr lang="en-US" sz="2475" dirty="0"/>
          </a:p>
        </p:txBody>
      </p:sp>
      <p:sp>
        <p:nvSpPr>
          <p:cNvPr id="5" name="Text 3"/>
          <p:cNvSpPr/>
          <p:nvPr/>
        </p:nvSpPr>
        <p:spPr>
          <a:xfrm>
            <a:off x="381000" y="238125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Your journal knows you. Ask it anything — your AI has read every entry and can surface insights you never noticed yourself.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81000" y="3619500"/>
            <a:ext cx="1531620" cy="310896"/>
          </a:xfrm>
          <a:prstGeom prst="roundRect">
            <a:avLst>
              <a:gd name="adj" fmla="val 50000"/>
            </a:avLst>
          </a:prstGeom>
          <a:solidFill>
            <a:srgbClr val="B7C7A8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" y="3619500"/>
            <a:ext cx="1531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PERSONAL MEMORY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88820" y="3619500"/>
            <a:ext cx="1668780" cy="310896"/>
          </a:xfrm>
          <a:prstGeom prst="roundRect">
            <a:avLst>
              <a:gd name="adj" fmla="val 50000"/>
            </a:avLst>
          </a:prstGeom>
          <a:solidFill>
            <a:srgbClr val="D6DD63"/>
          </a:solidFill>
          <a:ln/>
        </p:spPr>
      </p:sp>
      <p:sp>
        <p:nvSpPr>
          <p:cNvPr id="9" name="Text 7"/>
          <p:cNvSpPr/>
          <p:nvPr/>
        </p:nvSpPr>
        <p:spPr>
          <a:xfrm>
            <a:off x="1988820" y="3619500"/>
            <a:ext cx="1668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PATTERN DETECTION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1000" y="3886200"/>
            <a:ext cx="1394460" cy="310896"/>
          </a:xfrm>
          <a:prstGeom prst="roundRect">
            <a:avLst>
              <a:gd name="adj" fmla="val 50000"/>
            </a:avLst>
          </a:prstGeom>
          <a:solidFill>
            <a:srgbClr val="E8C9B6"/>
          </a:solidFill>
          <a:ln/>
        </p:spPr>
      </p:sp>
      <p:sp>
        <p:nvSpPr>
          <p:cNvPr id="11" name="Text 9"/>
          <p:cNvSpPr/>
          <p:nvPr/>
        </p:nvSpPr>
        <p:spPr>
          <a:xfrm>
            <a:off x="381000" y="3886200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CONTEXT-AWARE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57750" y="66675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57750" y="828675"/>
            <a:ext cx="3810000" cy="476250"/>
          </a:xfrm>
          <a:prstGeom prst="roundRect">
            <a:avLst>
              <a:gd name="adj" fmla="val 34560"/>
            </a:avLst>
          </a:prstGeom>
          <a:solidFill>
            <a:srgbClr val="D6DD6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904875"/>
            <a:ext cx="34671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"Who did I spend the most time with in May?"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57750" y="1400175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HANDLOG AI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57750" y="1562100"/>
            <a:ext cx="3810000" cy="1023937"/>
          </a:xfrm>
          <a:prstGeom prst="roundRect">
            <a:avLst>
              <a:gd name="adj" fmla="val 16074"/>
            </a:avLst>
          </a:prstGeom>
          <a:solidFill>
            <a:srgbClr val="FAF8F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638300"/>
            <a:ext cx="3467100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"Based on your May entries, you mentioned Sarah 11 times — mostly around work projects and two weekend brunches. You also spent significant time with your sister during the 18th–22nd."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57750" y="2681288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57750" y="2843213"/>
            <a:ext cx="3810000" cy="476250"/>
          </a:xfrm>
          <a:prstGeom prst="roundRect">
            <a:avLst>
              <a:gd name="adj" fmla="val 34560"/>
            </a:avLst>
          </a:prstGeom>
          <a:solidFill>
            <a:srgbClr val="D6DD6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919412"/>
            <a:ext cx="34671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"What's been making me stressed lately?"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57750" y="3414713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HANDLOG AI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57750" y="3576637"/>
            <a:ext cx="3810000" cy="1023937"/>
          </a:xfrm>
          <a:prstGeom prst="roundRect">
            <a:avLst>
              <a:gd name="adj" fmla="val 16074"/>
            </a:avLst>
          </a:prstGeom>
          <a:solidFill>
            <a:srgbClr val="FAF8F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652838"/>
            <a:ext cx="3467100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"Your last 3 weeks show a recurring theme around deadlines and sleep quality. Mood scores dip noticeably on Sunday evenings — you mentioned work pressure 8 times this month."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1000" y="4762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✍️ HandLog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67500" y="4762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handlog.app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38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REAL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4375" y="23812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1428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50" i="1" dirty="0">
                <a:solidFill>
                  <a:srgbClr val="B7C7A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</a:t>
            </a:r>
            <a:endParaRPr lang="en-US" sz="6750" dirty="0"/>
          </a:p>
        </p:txBody>
      </p:sp>
      <p:sp>
        <p:nvSpPr>
          <p:cNvPr id="5" name="Text 3"/>
          <p:cNvSpPr/>
          <p:nvPr/>
        </p:nvSpPr>
        <p:spPr>
          <a:xfrm>
            <a:off x="381000" y="1619250"/>
            <a:ext cx="547687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7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It was a Sunday morning. I asked HandLog</a:t>
            </a:r>
            <a:endParaRPr lang="en-US" sz="1575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75" b="1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"What made me happy this month?"</a:t>
            </a:r>
            <a:endParaRPr lang="en-US" sz="1575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7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It came back with three things I had completely forgotten.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381000" y="3429000"/>
            <a:ext cx="228600" cy="228600"/>
          </a:xfrm>
          <a:prstGeom prst="ellipse">
            <a:avLst/>
          </a:prstGeom>
          <a:solidFill>
            <a:srgbClr val="B7C7A8"/>
          </a:solidFill>
          <a:ln/>
        </p:spPr>
      </p:sp>
      <p:sp>
        <p:nvSpPr>
          <p:cNvPr id="7" name="Text 5"/>
          <p:cNvSpPr/>
          <p:nvPr/>
        </p:nvSpPr>
        <p:spPr>
          <a:xfrm>
            <a:off x="714375" y="3405187"/>
            <a:ext cx="5000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That's the moment I understood what this tool is for. Not productivity. Not habit tracking. Memory.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34125" y="714375"/>
            <a:ext cx="2428875" cy="2952750"/>
          </a:xfrm>
          <a:prstGeom prst="roundRect">
            <a:avLst>
              <a:gd name="adj" fmla="val 7529"/>
            </a:avLst>
          </a:prstGeom>
          <a:solidFill>
            <a:srgbClr val="D6DD63"/>
          </a:solidFill>
          <a:ln/>
        </p:spPr>
      </p:sp>
      <p:sp>
        <p:nvSpPr>
          <p:cNvPr id="9" name="Text 7"/>
          <p:cNvSpPr/>
          <p:nvPr/>
        </p:nvSpPr>
        <p:spPr>
          <a:xfrm>
            <a:off x="6524625" y="904875"/>
            <a:ext cx="2047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Sunday Ritual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524625" y="1285875"/>
            <a:ext cx="20478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☀ 9am — open HandLog on your phone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24625" y="1714500"/>
            <a:ext cx="20478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🎤 Voice note — 2 mins about your week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24625" y="2143125"/>
            <a:ext cx="20478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✨ AI generates your weekly review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24625" y="2571750"/>
            <a:ext cx="20478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💬 Ask it anything about your month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24625" y="3000375"/>
            <a:ext cx="20478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📓 Everything saved to Notion, forever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1000" y="4762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✍️ HandLog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67500" y="4762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handlog.app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38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4375" y="23812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333500"/>
            <a:ext cx="333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See it</a:t>
            </a:r>
            <a:endParaRPr lang="en-US" sz="2700" dirty="0"/>
          </a:p>
          <a:p>
            <a:pPr indent="0" marL="0">
              <a:buNone/>
            </a:pPr>
            <a:r>
              <a:rPr lang="en-US" sz="2700" b="1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working.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2381250"/>
            <a:ext cx="333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Every page has one job — capture, review, reflect, or explore. Daily, weekly &amp; monthly reviews, all AI-generated.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34290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B7C7A8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" y="34290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REAL APP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28750" y="34290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D6DD63"/>
          </a:solidFill>
          <a:ln/>
        </p:spPr>
      </p:sp>
      <p:sp>
        <p:nvSpPr>
          <p:cNvPr id="9" name="Text 7"/>
          <p:cNvSpPr/>
          <p:nvPr/>
        </p:nvSpPr>
        <p:spPr>
          <a:xfrm>
            <a:off x="1428750" y="34290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LIVE ON VERCEL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86250" y="714375"/>
            <a:ext cx="2190750" cy="1619250"/>
          </a:xfrm>
          <a:prstGeom prst="roundRect">
            <a:avLst>
              <a:gd name="adj" fmla="val 7906"/>
            </a:avLst>
          </a:prstGeom>
          <a:solidFill>
            <a:srgbClr val="FAF8F1"/>
          </a:solidFill>
          <a:ln/>
        </p:spPr>
      </p:sp>
      <p:pic>
        <p:nvPicPr>
          <p:cNvPr id="11" name="Image 0" descr="/Users/sha/Code/AI-code-26/练习JS-TS/AI现在项目/3-weekly-journal-review/assets/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86250" y="714375"/>
            <a:ext cx="2190750" cy="14287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86250" y="2152650"/>
            <a:ext cx="2190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CAPTURE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19875" y="714375"/>
            <a:ext cx="2190750" cy="1619250"/>
          </a:xfrm>
          <a:prstGeom prst="roundRect">
            <a:avLst>
              <a:gd name="adj" fmla="val 7906"/>
            </a:avLst>
          </a:prstGeom>
          <a:solidFill>
            <a:srgbClr val="FAF8F1"/>
          </a:solidFill>
          <a:ln/>
        </p:spPr>
      </p:sp>
      <p:pic>
        <p:nvPicPr>
          <p:cNvPr id="14" name="Image 1" descr="/Users/sha/Code/AI-code-26/练习JS-TS/AI现在项目/3-weekly-journal-review/assets/Review-Dail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19875" y="714375"/>
            <a:ext cx="2190750" cy="14287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19875" y="2152650"/>
            <a:ext cx="2190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DAILY REVIEW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286250" y="2619375"/>
            <a:ext cx="2190750" cy="1619250"/>
          </a:xfrm>
          <a:prstGeom prst="roundRect">
            <a:avLst>
              <a:gd name="adj" fmla="val 7906"/>
            </a:avLst>
          </a:prstGeom>
          <a:solidFill>
            <a:srgbClr val="FAF8F1"/>
          </a:solidFill>
          <a:ln/>
        </p:spPr>
      </p:sp>
      <p:pic>
        <p:nvPicPr>
          <p:cNvPr id="17" name="Image 2" descr="/Users/sha/Code/AI-code-26/练习JS-TS/AI现在项目/3-weekly-journal-review/assets/Chat-DeepCha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86250" y="2619375"/>
            <a:ext cx="2190750" cy="14287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86250" y="4057650"/>
            <a:ext cx="2190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DEEP CHAT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619875" y="2619375"/>
            <a:ext cx="2190750" cy="1619250"/>
          </a:xfrm>
          <a:prstGeom prst="roundRect">
            <a:avLst>
              <a:gd name="adj" fmla="val 7906"/>
            </a:avLst>
          </a:prstGeom>
          <a:solidFill>
            <a:srgbClr val="FAF8F1"/>
          </a:solidFill>
          <a:ln/>
        </p:spPr>
      </p:sp>
      <p:pic>
        <p:nvPicPr>
          <p:cNvPr id="20" name="Image 3" descr="/Users/sha/Code/AI-code-26/练习JS-TS/AI现在项目/3-weekly-journal-review/assets/Dashboar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19875" y="2619375"/>
            <a:ext cx="2190750" cy="1428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19875" y="4057650"/>
            <a:ext cx="2190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381000" y="4762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✍️ HandLog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67500" y="4762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handlog.app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38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BEHIND THE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4375" y="23812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571500"/>
            <a:ext cx="45243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Built in </a:t>
            </a:r>
            <a:pPr indent="0" marL="0">
              <a:buNone/>
            </a:pPr>
            <a:r>
              <a:rPr lang="en-US" sz="2100" b="1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7 days.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Shipped to the world.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1000" y="1905000"/>
            <a:ext cx="45243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Solo, from scratch. No prior AI experience — just Claude Code and curiosity. Generates daily, weekly, and monthly reviews automatically. The whole workflow runs on AI-first tools from day one.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143500" y="619125"/>
            <a:ext cx="3619500" cy="476250"/>
          </a:xfrm>
          <a:prstGeom prst="roundRect">
            <a:avLst>
              <a:gd name="adj" fmla="val 30720"/>
            </a:avLst>
          </a:prstGeom>
          <a:solidFill>
            <a:srgbClr val="B7C7A8"/>
          </a:solidFill>
          <a:ln/>
        </p:spPr>
      </p:sp>
      <p:sp>
        <p:nvSpPr>
          <p:cNvPr id="7" name="Text 5"/>
          <p:cNvSpPr/>
          <p:nvPr/>
        </p:nvSpPr>
        <p:spPr>
          <a:xfrm>
            <a:off x="5295900" y="676275"/>
            <a:ext cx="333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7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Claude Code</a:t>
            </a:r>
            <a:endParaRPr lang="en-US" sz="937" dirty="0"/>
          </a:p>
        </p:txBody>
      </p:sp>
      <p:sp>
        <p:nvSpPr>
          <p:cNvPr id="8" name="Text 6"/>
          <p:cNvSpPr/>
          <p:nvPr/>
        </p:nvSpPr>
        <p:spPr>
          <a:xfrm>
            <a:off x="5295900" y="866775"/>
            <a:ext cx="333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AI coding assistant — wrote &amp; shipped the app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43500" y="1162050"/>
            <a:ext cx="3619500" cy="476250"/>
          </a:xfrm>
          <a:prstGeom prst="roundRect">
            <a:avLst>
              <a:gd name="adj" fmla="val 30720"/>
            </a:avLst>
          </a:prstGeom>
          <a:solidFill>
            <a:srgbClr val="D6DD63"/>
          </a:solidFill>
          <a:ln/>
        </p:spPr>
      </p:sp>
      <p:sp>
        <p:nvSpPr>
          <p:cNvPr id="10" name="Text 8"/>
          <p:cNvSpPr/>
          <p:nvPr/>
        </p:nvSpPr>
        <p:spPr>
          <a:xfrm>
            <a:off x="5295900" y="1219200"/>
            <a:ext cx="333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7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Claude API</a:t>
            </a:r>
            <a:endParaRPr lang="en-US" sz="937" dirty="0"/>
          </a:p>
        </p:txBody>
      </p:sp>
      <p:sp>
        <p:nvSpPr>
          <p:cNvPr id="11" name="Text 9"/>
          <p:cNvSpPr/>
          <p:nvPr/>
        </p:nvSpPr>
        <p:spPr>
          <a:xfrm>
            <a:off x="5295900" y="1409700"/>
            <a:ext cx="333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Reviews, mood scores, deep chat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43500" y="1704975"/>
            <a:ext cx="3619500" cy="476250"/>
          </a:xfrm>
          <a:prstGeom prst="roundRect">
            <a:avLst>
              <a:gd name="adj" fmla="val 30720"/>
            </a:avLst>
          </a:prstGeom>
          <a:solidFill>
            <a:srgbClr val="E8C9B6"/>
          </a:solidFill>
          <a:ln/>
        </p:spPr>
      </p:sp>
      <p:sp>
        <p:nvSpPr>
          <p:cNvPr id="13" name="Text 11"/>
          <p:cNvSpPr/>
          <p:nvPr/>
        </p:nvSpPr>
        <p:spPr>
          <a:xfrm>
            <a:off x="5295900" y="1762125"/>
            <a:ext cx="333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7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OpenAI Whisper</a:t>
            </a:r>
            <a:endParaRPr lang="en-US" sz="937" dirty="0"/>
          </a:p>
        </p:txBody>
      </p:sp>
      <p:sp>
        <p:nvSpPr>
          <p:cNvPr id="14" name="Text 12"/>
          <p:cNvSpPr/>
          <p:nvPr/>
        </p:nvSpPr>
        <p:spPr>
          <a:xfrm>
            <a:off x="5295900" y="1952625"/>
            <a:ext cx="333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Speech-to-text for voice notes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43500" y="2247900"/>
            <a:ext cx="3619500" cy="476250"/>
          </a:xfrm>
          <a:prstGeom prst="roundRect">
            <a:avLst>
              <a:gd name="adj" fmla="val 30720"/>
            </a:avLst>
          </a:prstGeom>
          <a:solidFill>
            <a:srgbClr val="C9BEDC"/>
          </a:solidFill>
          <a:ln/>
        </p:spPr>
      </p:sp>
      <p:sp>
        <p:nvSpPr>
          <p:cNvPr id="16" name="Text 14"/>
          <p:cNvSpPr/>
          <p:nvPr/>
        </p:nvSpPr>
        <p:spPr>
          <a:xfrm>
            <a:off x="5295900" y="2305050"/>
            <a:ext cx="333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7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Notion API</a:t>
            </a:r>
            <a:endParaRPr lang="en-US" sz="937" dirty="0"/>
          </a:p>
        </p:txBody>
      </p:sp>
      <p:sp>
        <p:nvSpPr>
          <p:cNvPr id="17" name="Text 15"/>
          <p:cNvSpPr/>
          <p:nvPr/>
        </p:nvSpPr>
        <p:spPr>
          <a:xfrm>
            <a:off x="5295900" y="2495550"/>
            <a:ext cx="333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Auto-saves entries to your workspace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143500" y="2790825"/>
            <a:ext cx="3619500" cy="476250"/>
          </a:xfrm>
          <a:prstGeom prst="roundRect">
            <a:avLst>
              <a:gd name="adj" fmla="val 30720"/>
            </a:avLst>
          </a:prstGeom>
          <a:solidFill>
            <a:srgbClr val="E1A4C2"/>
          </a:solidFill>
          <a:ln/>
        </p:spPr>
      </p:sp>
      <p:sp>
        <p:nvSpPr>
          <p:cNvPr id="19" name="Text 17"/>
          <p:cNvSpPr/>
          <p:nvPr/>
        </p:nvSpPr>
        <p:spPr>
          <a:xfrm>
            <a:off x="5295900" y="2847975"/>
            <a:ext cx="333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7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Vercel</a:t>
            </a:r>
            <a:endParaRPr lang="en-US" sz="937" dirty="0"/>
          </a:p>
        </p:txBody>
      </p:sp>
      <p:sp>
        <p:nvSpPr>
          <p:cNvPr id="20" name="Text 18"/>
          <p:cNvSpPr/>
          <p:nvPr/>
        </p:nvSpPr>
        <p:spPr>
          <a:xfrm>
            <a:off x="5295900" y="3038475"/>
            <a:ext cx="333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Production hosting, zero-config CI/CD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1000" y="3548062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CLAUDE CODE SKILLS USED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1000" y="3762375"/>
            <a:ext cx="2762250" cy="1095375"/>
          </a:xfrm>
          <a:prstGeom prst="roundRect">
            <a:avLst>
              <a:gd name="adj" fmla="val 15026"/>
            </a:avLst>
          </a:prstGeom>
          <a:solidFill>
            <a:srgbClr val="E1A4C2"/>
          </a:solidFill>
          <a:ln/>
        </p:spPr>
      </p:sp>
      <p:sp>
        <p:nvSpPr>
          <p:cNvPr id="23" name="Text 21"/>
          <p:cNvSpPr/>
          <p:nvPr/>
        </p:nvSpPr>
        <p:spPr>
          <a:xfrm>
            <a:off x="547687" y="3867150"/>
            <a:ext cx="242887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Anthropic Frontend Design Skills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547687" y="4238625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UI generation · slide decks · design systems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7687" y="4500563"/>
            <a:ext cx="242887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skills.sh/anthropics/skills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86125" y="3762375"/>
            <a:ext cx="2762250" cy="1095375"/>
          </a:xfrm>
          <a:prstGeom prst="roundRect">
            <a:avLst>
              <a:gd name="adj" fmla="val 15026"/>
            </a:avLst>
          </a:prstGeom>
          <a:solidFill>
            <a:srgbClr val="D6DD63"/>
          </a:solidFill>
          <a:ln/>
        </p:spPr>
      </p:sp>
      <p:sp>
        <p:nvSpPr>
          <p:cNvPr id="27" name="Text 25"/>
          <p:cNvSpPr/>
          <p:nvPr/>
        </p:nvSpPr>
        <p:spPr>
          <a:xfrm>
            <a:off x="3452813" y="3867150"/>
            <a:ext cx="242887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Superpowers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3452813" y="4238625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Persistent memory · cross-session context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52813" y="4500563"/>
            <a:ext cx="242887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github.com/obra/superpowers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1250" y="3762375"/>
            <a:ext cx="2762250" cy="1095375"/>
          </a:xfrm>
          <a:prstGeom prst="roundRect">
            <a:avLst>
              <a:gd name="adj" fmla="val 15026"/>
            </a:avLst>
          </a:prstGeom>
          <a:solidFill>
            <a:srgbClr val="B7C7A8"/>
          </a:solidFill>
          <a:ln/>
        </p:spPr>
      </p:sp>
      <p:sp>
        <p:nvSpPr>
          <p:cNvPr id="31" name="Text 29"/>
          <p:cNvSpPr/>
          <p:nvPr/>
        </p:nvSpPr>
        <p:spPr>
          <a:xfrm>
            <a:off x="6357938" y="3867150"/>
            <a:ext cx="242887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Playwright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6357938" y="4238625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Browser automation · end-to-end testing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7938" y="4500563"/>
            <a:ext cx="242887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github.com/microsoft/playwright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38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 CAN DO THIS TOO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4375" y="23812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381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Vibe code</a:t>
            </a:r>
            <a:endParaRPr lang="en-US" sz="2250" dirty="0"/>
          </a:p>
          <a:p>
            <a:pPr indent="0" marL="0">
              <a:buNone/>
            </a:pPr>
            <a:r>
              <a:rPr lang="en-US" sz="2250" b="1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your life.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857375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You don't need to be a developer. You just need a problem worth solving and the curiosity to try.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2809875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B7C7A8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" y="2809875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77340" y="2809875"/>
            <a:ext cx="1394460" cy="310896"/>
          </a:xfrm>
          <a:prstGeom prst="roundRect">
            <a:avLst>
              <a:gd name="adj" fmla="val 50000"/>
            </a:avLst>
          </a:prstGeom>
          <a:solidFill>
            <a:srgbClr val="E8C9B6"/>
          </a:solidFill>
          <a:ln/>
        </p:spPr>
      </p:sp>
      <p:sp>
        <p:nvSpPr>
          <p:cNvPr id="9" name="Text 7"/>
          <p:cNvSpPr/>
          <p:nvPr/>
        </p:nvSpPr>
        <p:spPr>
          <a:xfrm>
            <a:off x="1577340" y="2809875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NON-TECHNICAL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48000" y="2809875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6DD63"/>
          </a:solidFill>
          <a:ln/>
        </p:spPr>
      </p:sp>
      <p:sp>
        <p:nvSpPr>
          <p:cNvPr id="11" name="Text 9"/>
          <p:cNvSpPr/>
          <p:nvPr/>
        </p:nvSpPr>
        <p:spPr>
          <a:xfrm>
            <a:off x="3048000" y="2809875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1000" y="3143250"/>
            <a:ext cx="3810000" cy="904875"/>
          </a:xfrm>
          <a:prstGeom prst="roundRect">
            <a:avLst>
              <a:gd name="adj" fmla="val 16168"/>
            </a:avLst>
          </a:prstGeom>
          <a:solidFill>
            <a:srgbClr val="FAF8F1"/>
          </a:solidFill>
          <a:ln/>
        </p:spPr>
      </p:sp>
      <p:sp>
        <p:nvSpPr>
          <p:cNvPr id="13" name="Text 11"/>
          <p:cNvSpPr/>
          <p:nvPr/>
        </p:nvSpPr>
        <p:spPr>
          <a:xfrm>
            <a:off x="547687" y="3262312"/>
            <a:ext cx="347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 keep a Notion table of ideas — problems I notice in my daily life that don't have good solutions yet. When I have time, I pick one and vibe code it into existence.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1000" y="419100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"Done is better than perfect — progress comes from action."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691063" y="714375"/>
            <a:ext cx="4071938" cy="1905000"/>
          </a:xfrm>
          <a:prstGeom prst="roundRect">
            <a:avLst>
              <a:gd name="adj" fmla="val 6720"/>
            </a:avLst>
          </a:prstGeom>
          <a:solidFill>
            <a:srgbClr val="FAF8F1"/>
          </a:solidFill>
          <a:ln/>
        </p:spPr>
      </p:sp>
      <p:sp>
        <p:nvSpPr>
          <p:cNvPr id="16" name="Shape 14"/>
          <p:cNvSpPr/>
          <p:nvPr/>
        </p:nvSpPr>
        <p:spPr>
          <a:xfrm>
            <a:off x="4691063" y="714375"/>
            <a:ext cx="4071938" cy="276225"/>
          </a:xfrm>
          <a:prstGeom prst="rect">
            <a:avLst/>
          </a:prstGeom>
          <a:solidFill>
            <a:srgbClr val="D6DD63"/>
          </a:solidFill>
          <a:ln/>
        </p:spPr>
      </p:sp>
      <p:sp>
        <p:nvSpPr>
          <p:cNvPr id="17" name="Text 15"/>
          <p:cNvSpPr/>
          <p:nvPr/>
        </p:nvSpPr>
        <p:spPr>
          <a:xfrm>
            <a:off x="4810125" y="714375"/>
            <a:ext cx="3810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AI IDEA TABLE — NOTION</a:t>
            </a:r>
            <a:endParaRPr lang="en-US" sz="1100" dirty="0"/>
          </a:p>
        </p:txBody>
      </p:sp>
      <p:pic>
        <p:nvPicPr>
          <p:cNvPr id="18" name="Image 0" descr="/Users/sha/Code/AI-code-26/练习JS-TS/AI现在项目/3-weekly-journal-review/assets/vibe-ide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91063" y="990600"/>
            <a:ext cx="4071938" cy="161925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691063" y="2809875"/>
            <a:ext cx="1976437" cy="857250"/>
          </a:xfrm>
          <a:prstGeom prst="roundRect">
            <a:avLst>
              <a:gd name="adj" fmla="val 17067"/>
            </a:avLst>
          </a:prstGeom>
          <a:solidFill>
            <a:srgbClr val="B7C7A8"/>
          </a:solidFill>
          <a:ln/>
        </p:spPr>
      </p:sp>
      <p:sp>
        <p:nvSpPr>
          <p:cNvPr id="20" name="Text 17"/>
          <p:cNvSpPr/>
          <p:nvPr/>
        </p:nvSpPr>
        <p:spPr>
          <a:xfrm>
            <a:off x="4833938" y="2928938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Start small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33938" y="3238500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problem. One weekend.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762750" y="2809875"/>
            <a:ext cx="1976437" cy="857250"/>
          </a:xfrm>
          <a:prstGeom prst="roundRect">
            <a:avLst>
              <a:gd name="adj" fmla="val 17067"/>
            </a:avLst>
          </a:prstGeom>
          <a:solidFill>
            <a:srgbClr val="E8C9B6"/>
          </a:solidFill>
          <a:ln/>
        </p:spPr>
      </p:sp>
      <p:sp>
        <p:nvSpPr>
          <p:cNvPr id="23" name="Text 20"/>
          <p:cNvSpPr/>
          <p:nvPr/>
        </p:nvSpPr>
        <p:spPr>
          <a:xfrm>
            <a:off x="6905625" y="2928938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Use AI tools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905625" y="3238500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Claude Code does the coding.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691063" y="3762375"/>
            <a:ext cx="1976437" cy="857250"/>
          </a:xfrm>
          <a:prstGeom prst="roundRect">
            <a:avLst>
              <a:gd name="adj" fmla="val 17067"/>
            </a:avLst>
          </a:prstGeom>
          <a:solidFill>
            <a:srgbClr val="C9BEDC"/>
          </a:solidFill>
          <a:ln/>
        </p:spPr>
      </p:sp>
      <p:sp>
        <p:nvSpPr>
          <p:cNvPr id="26" name="Text 23"/>
          <p:cNvSpPr/>
          <p:nvPr/>
        </p:nvSpPr>
        <p:spPr>
          <a:xfrm>
            <a:off x="4833938" y="3881437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Ship it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33938" y="4191000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Vercel free. Share it.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762750" y="3762375"/>
            <a:ext cx="1976437" cy="857250"/>
          </a:xfrm>
          <a:prstGeom prst="roundRect">
            <a:avLst>
              <a:gd name="adj" fmla="val 17067"/>
            </a:avLst>
          </a:prstGeom>
          <a:solidFill>
            <a:srgbClr val="E1A4C2"/>
          </a:solidFill>
          <a:ln/>
        </p:spPr>
      </p:sp>
      <p:sp>
        <p:nvSpPr>
          <p:cNvPr id="29" name="Text 26"/>
          <p:cNvSpPr/>
          <p:nvPr/>
        </p:nvSpPr>
        <p:spPr>
          <a:xfrm>
            <a:off x="6905625" y="3881437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Keep going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905625" y="4191000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Next idea. Next weekend.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81000" y="4762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✍️ HandLog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67500" y="4762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handlog.app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38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CHEAPER THAN YOU THINK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4375" y="23812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357187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Less than</a:t>
            </a:r>
            <a:endParaRPr lang="en-US" sz="2100" dirty="0"/>
          </a:p>
          <a:p>
            <a:pPr indent="0" marL="0">
              <a:buNone/>
            </a:pPr>
            <a:r>
              <a:rPr lang="en-US" sz="2100" b="1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cup of coffee.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1000" y="1857375"/>
            <a:ext cx="357187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 topped up $5 on the Claude API.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month of vibe coding a small project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barely made a dent.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81000" y="3000375"/>
            <a:ext cx="1714500" cy="904875"/>
          </a:xfrm>
          <a:prstGeom prst="roundRect">
            <a:avLst>
              <a:gd name="adj" fmla="val 16168"/>
            </a:avLst>
          </a:prstGeom>
          <a:solidFill>
            <a:srgbClr val="B7C7A8"/>
          </a:solidFill>
          <a:ln/>
        </p:spPr>
      </p:sp>
      <p:sp>
        <p:nvSpPr>
          <p:cNvPr id="7" name="Text 5"/>
          <p:cNvSpPr/>
          <p:nvPr/>
        </p:nvSpPr>
        <p:spPr>
          <a:xfrm>
            <a:off x="500063" y="3119437"/>
            <a:ext cx="14763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b="1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$2.94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500063" y="3476625"/>
            <a:ext cx="1476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Total spent this month (tokens + web search)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0750" y="3000375"/>
            <a:ext cx="1762125" cy="904875"/>
          </a:xfrm>
          <a:prstGeom prst="roundRect">
            <a:avLst>
              <a:gd name="adj" fmla="val 16168"/>
            </a:avLst>
          </a:prstGeom>
          <a:solidFill>
            <a:srgbClr val="D6DD63"/>
          </a:solidFill>
          <a:ln/>
        </p:spPr>
      </p:sp>
      <p:sp>
        <p:nvSpPr>
          <p:cNvPr id="10" name="Text 8"/>
          <p:cNvSpPr/>
          <p:nvPr/>
        </p:nvSpPr>
        <p:spPr>
          <a:xfrm>
            <a:off x="2309813" y="3119437"/>
            <a:ext cx="14763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b="1" i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$2.13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2309813" y="3476625"/>
            <a:ext cx="1476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Still left on the original $5 top-up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1000" y="4048125"/>
            <a:ext cx="3571875" cy="809625"/>
          </a:xfrm>
          <a:prstGeom prst="roundRect">
            <a:avLst>
              <a:gd name="adj" fmla="val 15812"/>
            </a:avLst>
          </a:prstGeom>
          <a:solidFill>
            <a:srgbClr val="FAF8F1"/>
          </a:solidFill>
          <a:ln/>
        </p:spPr>
      </p:sp>
      <p:sp>
        <p:nvSpPr>
          <p:cNvPr id="13" name="Text 11"/>
          <p:cNvSpPr/>
          <p:nvPr/>
        </p:nvSpPr>
        <p:spPr>
          <a:xfrm>
            <a:off x="547687" y="4167187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669,638 tokens in · 105,243 tokens out · 12 web searches — and I still have more than half my budget left.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91063" y="714375"/>
            <a:ext cx="4071938" cy="1619250"/>
          </a:xfrm>
          <a:prstGeom prst="roundRect">
            <a:avLst>
              <a:gd name="adj" fmla="val 7906"/>
            </a:avLst>
          </a:prstGeom>
          <a:solidFill>
            <a:srgbClr val="FAF8F1"/>
          </a:solidFill>
          <a:ln/>
        </p:spPr>
      </p:sp>
      <p:sp>
        <p:nvSpPr>
          <p:cNvPr id="15" name="Shape 13"/>
          <p:cNvSpPr/>
          <p:nvPr/>
        </p:nvSpPr>
        <p:spPr>
          <a:xfrm>
            <a:off x="4691063" y="714375"/>
            <a:ext cx="4071938" cy="276225"/>
          </a:xfrm>
          <a:prstGeom prst="rect">
            <a:avLst/>
          </a:prstGeom>
          <a:solidFill>
            <a:srgbClr val="B7C7A8"/>
          </a:solidFill>
          <a:ln/>
        </p:spPr>
      </p:sp>
      <p:sp>
        <p:nvSpPr>
          <p:cNvPr id="16" name="Text 14"/>
          <p:cNvSpPr/>
          <p:nvPr/>
        </p:nvSpPr>
        <p:spPr>
          <a:xfrm>
            <a:off x="4810125" y="714375"/>
            <a:ext cx="3810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CLAUDE CONSOLE — USAGE</a:t>
            </a:r>
            <a:endParaRPr lang="en-US" sz="1100" dirty="0"/>
          </a:p>
        </p:txBody>
      </p:sp>
      <p:pic>
        <p:nvPicPr>
          <p:cNvPr id="17" name="Image 0" descr="/Users/sha/Code/AI-code-26/练习JS-TS/AI现在项目/3-weekly-journal-review/assets/Claude-token-5dol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0" y="1071563"/>
            <a:ext cx="3929063" cy="116681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691063" y="2476500"/>
            <a:ext cx="4071938" cy="1619250"/>
          </a:xfrm>
          <a:prstGeom prst="roundRect">
            <a:avLst>
              <a:gd name="adj" fmla="val 7906"/>
            </a:avLst>
          </a:prstGeom>
          <a:solidFill>
            <a:srgbClr val="FAF8F1"/>
          </a:solidFill>
          <a:ln/>
        </p:spPr>
      </p:sp>
      <p:sp>
        <p:nvSpPr>
          <p:cNvPr id="19" name="Shape 16"/>
          <p:cNvSpPr/>
          <p:nvPr/>
        </p:nvSpPr>
        <p:spPr>
          <a:xfrm>
            <a:off x="4691063" y="2476500"/>
            <a:ext cx="4071938" cy="276225"/>
          </a:xfrm>
          <a:prstGeom prst="rect">
            <a:avLst/>
          </a:prstGeom>
          <a:solidFill>
            <a:srgbClr val="D6DD63"/>
          </a:solidFill>
          <a:ln/>
        </p:spPr>
      </p:sp>
      <p:sp>
        <p:nvSpPr>
          <p:cNvPr id="20" name="Text 17"/>
          <p:cNvSpPr/>
          <p:nvPr/>
        </p:nvSpPr>
        <p:spPr>
          <a:xfrm>
            <a:off x="4810125" y="2476500"/>
            <a:ext cx="3810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CLAUDE CONSOLE — COST</a:t>
            </a:r>
            <a:endParaRPr lang="en-US" sz="1100" dirty="0"/>
          </a:p>
        </p:txBody>
      </p:sp>
      <p:pic>
        <p:nvPicPr>
          <p:cNvPr id="21" name="Image 1" descr="/Users/sha/Code/AI-code-26/练习JS-TS/AI现在项目/3-weekly-journal-review/assets/Claude-token-Cost-PP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62500" y="2833687"/>
            <a:ext cx="3929063" cy="11668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81000" y="4762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✍️ HandLog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667500" y="4762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handlog.app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38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4375" y="23812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666750"/>
            <a:ext cx="50006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Thank you </a:t>
            </a:r>
            <a:pPr indent="0" marL="0">
              <a:buNone/>
            </a:pPr>
            <a:r>
              <a:rPr lang="en-US" sz="1800" b="1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for being here.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1000" y="1476375"/>
            <a:ext cx="5000625" cy="762000"/>
          </a:xfrm>
          <a:prstGeom prst="roundRect">
            <a:avLst>
              <a:gd name="adj" fmla="val 21600"/>
            </a:avLst>
          </a:prstGeom>
          <a:solidFill>
            <a:srgbClr val="B7C7A8"/>
          </a:solidFill>
          <a:ln/>
        </p:spPr>
      </p:sp>
      <p:sp>
        <p:nvSpPr>
          <p:cNvPr id="6" name="Text 4"/>
          <p:cNvSpPr/>
          <p:nvPr/>
        </p:nvSpPr>
        <p:spPr>
          <a:xfrm>
            <a:off x="547687" y="1595437"/>
            <a:ext cx="4667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Michelle ✦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7687" y="1857375"/>
            <a:ext cx="46672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For building this community and creating the space for all of us to learn, share, and grow in AI together.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1000" y="2333625"/>
            <a:ext cx="5000625" cy="762000"/>
          </a:xfrm>
          <a:prstGeom prst="roundRect">
            <a:avLst>
              <a:gd name="adj" fmla="val 21600"/>
            </a:avLst>
          </a:prstGeom>
          <a:solidFill>
            <a:srgbClr val="E8C9B6"/>
          </a:solidFill>
          <a:ln/>
        </p:spPr>
      </p:sp>
      <p:sp>
        <p:nvSpPr>
          <p:cNvPr id="9" name="Text 7"/>
          <p:cNvSpPr/>
          <p:nvPr/>
        </p:nvSpPr>
        <p:spPr>
          <a:xfrm>
            <a:off x="547687" y="2452688"/>
            <a:ext cx="4667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Doris ✦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7687" y="2714625"/>
            <a:ext cx="46672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For believing in my potential, encouraging me to show up, and recommending Zara Zhang's channel — which inspired this very PPT.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1000" y="3190875"/>
            <a:ext cx="5000625" cy="619125"/>
          </a:xfrm>
          <a:prstGeom prst="roundRect">
            <a:avLst>
              <a:gd name="adj" fmla="val 23631"/>
            </a:avLst>
          </a:prstGeom>
          <a:solidFill>
            <a:srgbClr val="FAF8F1"/>
          </a:solidFill>
          <a:ln/>
        </p:spPr>
      </p:sp>
      <p:sp>
        <p:nvSpPr>
          <p:cNvPr id="12" name="Text 10"/>
          <p:cNvSpPr/>
          <p:nvPr/>
        </p:nvSpPr>
        <p:spPr>
          <a:xfrm>
            <a:off x="547687" y="3286125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This PPT was made with Zara Zhang's frontend-slides.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Try it yourself — it's free and open source.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53125" y="690562"/>
            <a:ext cx="2809875" cy="523875"/>
          </a:xfrm>
          <a:prstGeom prst="roundRect">
            <a:avLst>
              <a:gd name="adj" fmla="val 27927"/>
            </a:avLst>
          </a:prstGeom>
          <a:solidFill>
            <a:srgbClr val="D6DD63"/>
          </a:solidFill>
          <a:ln/>
        </p:spPr>
      </p:sp>
      <p:sp>
        <p:nvSpPr>
          <p:cNvPr id="14" name="Text 12"/>
          <p:cNvSpPr/>
          <p:nvPr/>
        </p:nvSpPr>
        <p:spPr>
          <a:xfrm>
            <a:off x="6119813" y="776287"/>
            <a:ext cx="24765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Claude Code + Claude API + Skills + Hooks + Plugins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19813" y="1033462"/>
            <a:ext cx="2476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anthropic.com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53125" y="1309687"/>
            <a:ext cx="2809875" cy="523875"/>
          </a:xfrm>
          <a:prstGeom prst="roundRect">
            <a:avLst>
              <a:gd name="adj" fmla="val 27927"/>
            </a:avLst>
          </a:prstGeom>
          <a:solidFill>
            <a:srgbClr val="B7C7A8"/>
          </a:solidFill>
          <a:ln/>
        </p:spPr>
      </p:sp>
      <p:sp>
        <p:nvSpPr>
          <p:cNvPr id="17" name="Text 15"/>
          <p:cNvSpPr/>
          <p:nvPr/>
        </p:nvSpPr>
        <p:spPr>
          <a:xfrm>
            <a:off x="6119813" y="1395412"/>
            <a:ext cx="24765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OpenAI Whisper API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19813" y="1652587"/>
            <a:ext cx="2476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platform.openai.com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53125" y="1928813"/>
            <a:ext cx="2809875" cy="523875"/>
          </a:xfrm>
          <a:prstGeom prst="roundRect">
            <a:avLst>
              <a:gd name="adj" fmla="val 27927"/>
            </a:avLst>
          </a:prstGeom>
          <a:solidFill>
            <a:srgbClr val="E8C9B6"/>
          </a:solidFill>
          <a:ln/>
        </p:spPr>
      </p:sp>
      <p:sp>
        <p:nvSpPr>
          <p:cNvPr id="20" name="Text 18"/>
          <p:cNvSpPr/>
          <p:nvPr/>
        </p:nvSpPr>
        <p:spPr>
          <a:xfrm>
            <a:off x="6119813" y="2014538"/>
            <a:ext cx="24765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Notion API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19813" y="2271713"/>
            <a:ext cx="2476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developers.notion.com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53125" y="2547937"/>
            <a:ext cx="2809875" cy="523875"/>
          </a:xfrm>
          <a:prstGeom prst="roundRect">
            <a:avLst>
              <a:gd name="adj" fmla="val 27927"/>
            </a:avLst>
          </a:prstGeom>
          <a:solidFill>
            <a:srgbClr val="C9BEDC"/>
          </a:solidFill>
          <a:ln/>
        </p:spPr>
      </p:sp>
      <p:sp>
        <p:nvSpPr>
          <p:cNvPr id="23" name="Text 21"/>
          <p:cNvSpPr/>
          <p:nvPr/>
        </p:nvSpPr>
        <p:spPr>
          <a:xfrm>
            <a:off x="6119813" y="2633662"/>
            <a:ext cx="24765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Anthropic Frontend Design Skills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19813" y="2890837"/>
            <a:ext cx="2476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skills.sh/anthropics/skills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53125" y="3167063"/>
            <a:ext cx="2809875" cy="523875"/>
          </a:xfrm>
          <a:prstGeom prst="roundRect">
            <a:avLst>
              <a:gd name="adj" fmla="val 27927"/>
            </a:avLst>
          </a:prstGeom>
          <a:solidFill>
            <a:srgbClr val="FAF8F1"/>
          </a:solidFill>
          <a:ln/>
        </p:spPr>
      </p:sp>
      <p:sp>
        <p:nvSpPr>
          <p:cNvPr id="26" name="Text 24"/>
          <p:cNvSpPr/>
          <p:nvPr/>
        </p:nvSpPr>
        <p:spPr>
          <a:xfrm>
            <a:off x="6119813" y="3252788"/>
            <a:ext cx="24765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Superpowers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19813" y="3509963"/>
            <a:ext cx="2476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github.com/obra/superpowers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53125" y="3786188"/>
            <a:ext cx="2809875" cy="523875"/>
          </a:xfrm>
          <a:prstGeom prst="roundRect">
            <a:avLst>
              <a:gd name="adj" fmla="val 27927"/>
            </a:avLst>
          </a:prstGeom>
          <a:solidFill>
            <a:srgbClr val="FAF8F1"/>
          </a:solidFill>
          <a:ln/>
        </p:spPr>
      </p:sp>
      <p:sp>
        <p:nvSpPr>
          <p:cNvPr id="29" name="Text 27"/>
          <p:cNvSpPr/>
          <p:nvPr/>
        </p:nvSpPr>
        <p:spPr>
          <a:xfrm>
            <a:off x="6119813" y="3871913"/>
            <a:ext cx="24765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Playwright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119813" y="4129088"/>
            <a:ext cx="2476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github.com/microsoft/playwright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1000" y="47625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✍️ HandLog — by Sarah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67500" y="4762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hand-log.vercel.app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1A4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0" y="13335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5C534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START YOUR 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428750" y="1571625"/>
            <a:ext cx="6286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4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Your story,</a:t>
            </a:r>
            <a:endParaRPr lang="en-US" sz="3300" dirty="0"/>
          </a:p>
          <a:p>
            <a:pPr algn="ctr" indent="0" marL="0">
              <a:buNone/>
            </a:pPr>
            <a:r>
              <a:rPr lang="en-US" sz="3300" b="1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remembered.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190750" y="3238500"/>
            <a:ext cx="4762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Capture today. Let AI make sense of your week.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Your memories, structured and searchable — forever.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857500" y="4143375"/>
            <a:ext cx="2047875" cy="357188"/>
          </a:xfrm>
          <a:prstGeom prst="roundRect">
            <a:avLst>
              <a:gd name="adj" fmla="val 89600"/>
            </a:avLst>
          </a:prstGeom>
          <a:solidFill>
            <a:srgbClr val="2A241B"/>
          </a:solidFill>
          <a:ln/>
        </p:spPr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2857500" y="4143375"/>
            <a:ext cx="204787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2EED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HandLog Free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95875" y="4143375"/>
            <a:ext cx="1714500" cy="357188"/>
          </a:xfrm>
          <a:prstGeom prst="roundRect">
            <a:avLst>
              <a:gd name="adj" fmla="val 89600"/>
            </a:avLst>
          </a:prstGeom>
          <a:ln w="19050">
            <a:solidFill>
              <a:srgbClr val="2A241B"/>
            </a:solidFill>
            <a:prstDash val="solid"/>
          </a:ln>
        </p:spPr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5095875" y="4143375"/>
            <a:ext cx="17145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2A24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on GitHub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1000" y="47625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✍️ HandLog — AI Journal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7500" y="4762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53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hand-log.vercel.app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HandLog — AI Journal That Thinks With You</dc:title>
  <dc:subject>PptxGenJS Presentation</dc:subject>
  <dc:creator>Sarah Wang</dc:creator>
  <cp:lastModifiedBy>Sarah Wang</cp:lastModifiedBy>
  <cp:revision>1</cp:revision>
  <dcterms:created xsi:type="dcterms:W3CDTF">2026-07-12T05:53:39Z</dcterms:created>
  <dcterms:modified xsi:type="dcterms:W3CDTF">2026-07-12T05:53:39Z</dcterms:modified>
</cp:coreProperties>
</file>